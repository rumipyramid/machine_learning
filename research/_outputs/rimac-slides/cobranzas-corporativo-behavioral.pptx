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 ya llegó, pero no sabemos a qué corresponde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2500884" cy="292608"/>
          </a:xfrm>
          <a:prstGeom prst="roundRect">
            <a:avLst>
              <a:gd name="adj" fmla="val 50000"/>
            </a:avLst>
          </a:prstGeom>
          <a:solidFill>
            <a:srgbClr val="0B16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98448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NEGOCIO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ABONOS SIN VOZ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abonos que llegan a Rimac sin declaración de detalle corresponden a los segmentos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Corporativo y Gran Empresa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$300M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todos los segmentos, excepto CNT, Estado, Rentas y Convenios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1783080"/>
            <a:ext cx="7345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no-conciliación se convierte en </a:t>
            </a:r>
            <a:pPr indent="0" marL="0">
              <a:buNone/>
            </a:pPr>
            <a:r>
              <a:rPr lang="en-US" sz="15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</a:t>
            </a:r>
            <a:pPr indent="0" marL="0">
              <a:buNone/>
            </a:pPr>
            <a:r>
              <a:rPr lang="en-US" sz="15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el tiempo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2395728"/>
            <a:ext cx="7208215" cy="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322576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523744"/>
            <a:ext cx="165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60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2779776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Provisión del 50% — entra como gasto al P&amp;L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4024" y="2322576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4024" y="2523744"/>
            <a:ext cx="165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90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34024" y="2779776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Provisión del 100%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70368" y="2322576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0368" y="2523744"/>
            <a:ext cx="165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120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70368" y="2779776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Conciliar o anular — anular implica descuento sobre ingresos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06711" y="2322576"/>
            <a:ext cx="146304" cy="146304"/>
          </a:xfrm>
          <a:prstGeom prst="ellipse">
            <a:avLst/>
          </a:prstGeom>
          <a:solidFill>
            <a:srgbClr val="F7052D"/>
          </a:solidFill>
          <a:ln w="19050">
            <a:solidFill>
              <a:srgbClr val="F705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6711" y="2523744"/>
            <a:ext cx="165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AÑOS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06711" y="2779776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 como "ingreso extraordinario" — el dinero sigue inmovilizado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160520"/>
            <a:ext cx="72082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4343400"/>
            <a:ext cx="7345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un problema financiero: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y corredor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pierden visibilidad y confianza en el pago, y el equipo de cobranzas depende de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manual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reconstruir la relación entre cliente, corredor, banco y Rimac.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RIMAC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CoE Experience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Traducimos el objetivo de negocio en un objetivo de comportamiento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2331720"/>
          </a:xfrm>
          <a:prstGeom prst="roundRect">
            <a:avLst>
              <a:gd name="adj" fmla="val 5490"/>
            </a:avLst>
          </a:prstGeom>
          <a:solidFill>
            <a:srgbClr val="FFF6E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92808"/>
            <a:ext cx="3236976" cy="292608"/>
          </a:xfrm>
          <a:prstGeom prst="roundRect">
            <a:avLst>
              <a:gd name="adj" fmla="val 50000"/>
            </a:avLst>
          </a:prstGeom>
          <a:solidFill>
            <a:srgbClr val="F705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92808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COMPORTAMIENTO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corredor no declara el detalle del abono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corporativo o su corredor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informa a Rimac qué facturas cubre cada abono, en el momento del pago o inmediatamente después, para poder realizar las conciliaciones.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2331720"/>
          </a:xfrm>
          <a:prstGeom prst="roundRect">
            <a:avLst>
              <a:gd name="adj" fmla="val 5490"/>
            </a:avLst>
          </a:prstGeom>
          <a:solidFill>
            <a:srgbClr val="F7F8FE"/>
          </a:solidFill>
          <a:ln/>
        </p:spPr>
      </p:sp>
      <p:sp>
        <p:nvSpPr>
          <p:cNvPr id="9" name="Shape 7"/>
          <p:cNvSpPr/>
          <p:nvPr/>
        </p:nvSpPr>
        <p:spPr>
          <a:xfrm>
            <a:off x="6598768" y="1892808"/>
            <a:ext cx="2921508" cy="292608"/>
          </a:xfrm>
          <a:prstGeom prst="roundRect">
            <a:avLst>
              <a:gd name="adj" fmla="val 50000"/>
            </a:avLst>
          </a:prstGeom>
          <a:solidFill>
            <a:srgbClr val="C8128B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1892808"/>
            <a:ext cx="2921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COMPORTAMENTAL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98768" y="237744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declaraciones, a tiempo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31089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Incrementar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cantidad de declaraciones de abonos que clientes y corredores envían a Rimac, para que el equipo pueda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conciliar a tiempo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4480560"/>
            <a:ext cx="384048" cy="384048"/>
          </a:xfrm>
          <a:prstGeom prst="ellipse">
            <a:avLst/>
          </a:prstGeom>
          <a:solidFill>
            <a:srgbClr val="F7052D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480560"/>
            <a:ext cx="384048" cy="384048"/>
          </a:xfrm>
          <a:prstGeom prst="ellipse">
            <a:avLst/>
          </a:prstGeom>
          <a:solidFill>
            <a:srgbClr val="C8128B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448056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COM-B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(Michie, van Stralen &amp; West, 2011): las personas actúan cuando tienen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Capacidad, Oportunidad y Motivación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 falla una, el comportamiento deseado no se da.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RIMAC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CoE Experience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barreras impiden que declarar el pago sea automático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84778" cy="4892040"/>
          </a:xfrm>
          <a:prstGeom prst="roundRect">
            <a:avLst>
              <a:gd name="adj" fmla="val 3674"/>
            </a:avLst>
          </a:prstGeom>
          <a:solidFill>
            <a:srgbClr val="F5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673352"/>
            <a:ext cx="1449324" cy="292608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73352"/>
            <a:ext cx="1449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2176272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definiciones distintas de "pago terminado"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3090672"/>
            <a:ext cx="297271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3090672"/>
            <a:ext cx="41148" cy="1051560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3182112"/>
            <a:ext cx="2698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“Para el corredor, el pago termina en la transferencia; para Rimac, termina en la conciliación.”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4325112"/>
            <a:ext cx="29727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corredor debe hacer una reconstrucción casi arqueológica: cruzar a mano el portal de pagos contra el portal de facturas.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3458" y="1417320"/>
            <a:ext cx="3484778" cy="4892040"/>
          </a:xfrm>
          <a:prstGeom prst="roundRect">
            <a:avLst>
              <a:gd name="adj" fmla="val 3674"/>
            </a:avLst>
          </a:prstGeom>
          <a:solidFill>
            <a:srgbClr val="F5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609490" y="1673352"/>
            <a:ext cx="1659636" cy="292608"/>
          </a:xfrm>
          <a:prstGeom prst="roundRect">
            <a:avLst>
              <a:gd name="adj" fmla="val 50000"/>
            </a:avLst>
          </a:prstGeom>
          <a:solidFill>
            <a:srgbClr val="F7052D"/>
          </a:solidFill>
          <a:ln/>
        </p:spPr>
      </p:sp>
      <p:sp>
        <p:nvSpPr>
          <p:cNvPr id="13" name="Text 11"/>
          <p:cNvSpPr/>
          <p:nvPr/>
        </p:nvSpPr>
        <p:spPr>
          <a:xfrm>
            <a:off x="4609490" y="1673352"/>
            <a:ext cx="1659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09490" y="2176272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canal automático falla por correos desactualizados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09490" y="3090672"/>
            <a:ext cx="297271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09490" y="3090672"/>
            <a:ext cx="41148" cy="1051560"/>
          </a:xfrm>
          <a:prstGeom prst="rect">
            <a:avLst/>
          </a:prstGeom>
          <a:solidFill>
            <a:srgbClr val="F7052D"/>
          </a:solidFill>
          <a:ln/>
        </p:spPr>
      </p:sp>
      <p:sp>
        <p:nvSpPr>
          <p:cNvPr id="17" name="Text 15"/>
          <p:cNvSpPr/>
          <p:nvPr/>
        </p:nvSpPr>
        <p:spPr>
          <a:xfrm>
            <a:off x="4774082" y="3182112"/>
            <a:ext cx="2698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Buzones inexistentes o desfasados rompen la conciliación automática del pago.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09490" y="4325112"/>
            <a:ext cx="29727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pago no detectado abre un loop de reprocesos — en SCTR/UMES, eso significa personal sin cobertura mientras tanto.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417320"/>
            <a:ext cx="3484778" cy="4892040"/>
          </a:xfrm>
          <a:prstGeom prst="roundRect">
            <a:avLst>
              <a:gd name="adj" fmla="val 3674"/>
            </a:avLst>
          </a:prstGeom>
          <a:solidFill>
            <a:srgbClr val="F5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4309" y="16733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8128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4309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4309" y="2176272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esfuerzo manual normaliza el problema en vez de exponerlo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4309" y="3090672"/>
            <a:ext cx="297271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4309" y="3090672"/>
            <a:ext cx="41148" cy="1051560"/>
          </a:xfrm>
          <a:prstGeom prst="rect">
            <a:avLst/>
          </a:prstGeom>
          <a:solidFill>
            <a:srgbClr val="C8128B"/>
          </a:solidFill>
          <a:ln/>
        </p:spPr>
      </p:sp>
      <p:sp>
        <p:nvSpPr>
          <p:cNvPr id="25" name="Text 23"/>
          <p:cNvSpPr/>
          <p:nvPr/>
        </p:nvSpPr>
        <p:spPr>
          <a:xfrm>
            <a:off x="8578901" y="3182112"/>
            <a:ext cx="2698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más cuesta cruzar la información a mano, más se acepta como parte del trabajo (sesgo de justificación del esfuerzo).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4309" y="4325112"/>
            <a:ext cx="29727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“Más vale malo conocido que bueno por conocer”: las empresas prefieren declarar de más antes que arriesgarse. El broker es el pivote de confianza del cliente.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RIMAC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CoE Experience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Soluciones de bajo esfuerzo ya en marcha para conciliar a tiempo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F5F6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572768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8745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correos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240280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Corregir buzones obsoletos en el ending del H2H para clientes B2B.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90824" y="141732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F5F6FB"/>
          </a:solidFill>
          <a:ln/>
        </p:spPr>
      </p:sp>
      <p:sp>
        <p:nvSpPr>
          <p:cNvPr id="8" name="Text 6"/>
          <p:cNvSpPr/>
          <p:nvPr/>
        </p:nvSpPr>
        <p:spPr>
          <a:xfrm>
            <a:off x="3591992" y="1572768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91992" y="18745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Pólizas nuevas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91992" y="2240280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abono al mismo banco y el buzón oficial Rimac en el condicionado de pago.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3008" y="141732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F5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34176" y="1572768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34176" y="18745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Buzón en la firma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34176" y="2240280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 el nombre del buzón de notificación de pagos en la firma de los ejecutivos.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5191" y="141732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F5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9276359" y="1572768"/>
            <a:ext cx="216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76359" y="18745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calibrados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76359" y="2240280"/>
            <a:ext cx="2165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al ciclo de pago de facturas vencidas, con el buzón correcto y la instrucción de declarar.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CEE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310128"/>
            <a:ext cx="2025178" cy="256032"/>
          </a:xfrm>
          <a:prstGeom prst="roundRect">
            <a:avLst>
              <a:gd name="adj" fmla="val 50000"/>
            </a:avLst>
          </a:prstGeom>
          <a:solidFill>
            <a:srgbClr val="F7052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310128"/>
            <a:ext cx="202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 OPORTUNIDAD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3611880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instituciones del Estado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concentran S/214K en abonos recurrentes conciliados después del día 60 — enfocar ahí libera provisión.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61608" y="3310128"/>
            <a:ext cx="1644614" cy="256032"/>
          </a:xfrm>
          <a:prstGeom prst="roundRect">
            <a:avLst>
              <a:gd name="adj" fmla="val 50000"/>
            </a:avLst>
          </a:prstGeom>
          <a:solidFill>
            <a:srgbClr val="0B16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61608" y="3310128"/>
            <a:ext cx="16446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61608" y="3611880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mesas de trabajo para traccionar los tracks priorizados y extender el research a Gran Empresa, Empresarial, Micro y Pequeña empresa.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177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DE UNA EXPLORACIÓN MÁS GRANDE — COBRANZAS B2B POR SEGMENTO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47488"/>
            <a:ext cx="108200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983480"/>
            <a:ext cx="128016" cy="128016"/>
          </a:xfrm>
          <a:prstGeom prst="ellipse">
            <a:avLst/>
          </a:prstGeom>
          <a:solidFill>
            <a:srgbClr val="F7052D"/>
          </a:solidFill>
          <a:ln w="19050">
            <a:solidFill>
              <a:srgbClr val="F705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157216"/>
            <a:ext cx="3469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Corporativo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431536"/>
            <a:ext cx="3469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research — completado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46778" y="4983480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05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6778" y="5157216"/>
            <a:ext cx="3469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 Empresa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46778" y="5431536"/>
            <a:ext cx="3469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frente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44917" y="4983480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4917" y="5157216"/>
            <a:ext cx="3469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y Pequeña Empresa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944917" y="5431536"/>
            <a:ext cx="3469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explorar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0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RIMAC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CoE Experience Design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2026-08-18T20:42:47Z</dcterms:created>
  <dcterms:modified xsi:type="dcterms:W3CDTF">2026-08-18T20:42:47Z</dcterms:modified>
</cp:coreProperties>
</file>